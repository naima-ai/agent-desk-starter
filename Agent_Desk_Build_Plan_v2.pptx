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3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solidFill>
              <a:srgbClr val="FFFFF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Agree the shared AI-model connector</c:v>
                </c:pt>
                <c:pt idx="1">
                  <c:v>Agent engine</c:v>
                </c:pt>
                <c:pt idx="2">
                  <c:v>Message bus + rule enforcement</c:v>
                </c:pt>
                <c:pt idx="3">
                  <c:v>VAT checker — real logic</c:v>
                </c:pt>
                <c:pt idx="4">
                  <c:v>Client assistant — build new</c:v>
                </c:pt>
                <c:pt idx="5">
                  <c:v>Category picker — real logic</c:v>
                </c:pt>
                <c:pt idx="6">
                  <c:v>Message router — build new</c:v>
                </c:pt>
                <c:pt idx="7">
                  <c:v>Fatture in Cloud — go live</c:v>
                </c:pt>
                <c:pt idx="8">
                  <c:v>WhatsApp — go live</c:v>
                </c:pt>
                <c:pt idx="9">
                  <c:v>Rule saver — build new</c:v>
                </c:pt>
                <c:pt idx="10">
                  <c:v>TeamSystem write-back</c:v>
                </c:pt>
                <c:pt idx="11">
                  <c:v>Save memory permanently</c:v>
                </c:pt>
                <c:pt idx="12">
                  <c:v>Frontend polish + job editor</c:v>
                </c:pt>
                <c:pt idx="13">
                  <c:v>Testing + rehearsal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5</c:v>
                </c:pt>
                <c:pt idx="9">
                  <c:v>7</c:v>
                </c:pt>
                <c:pt idx="10">
                  <c:v>7</c:v>
                </c:pt>
                <c:pt idx="11">
                  <c:v>5</c:v>
                </c:pt>
                <c:pt idx="12">
                  <c:v>9</c:v>
                </c:pt>
                <c:pt idx="1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45-40BB-AF1F-FA5A4A0566A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work</c:v>
                </c:pt>
              </c:strCache>
            </c:strRef>
          </c:tx>
          <c:spPr>
            <a:solidFill>
              <a:srgbClr val="1E2761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Agree the shared AI-model connector</c:v>
                </c:pt>
                <c:pt idx="1">
                  <c:v>Agent engine</c:v>
                </c:pt>
                <c:pt idx="2">
                  <c:v>Message bus + rule enforcement</c:v>
                </c:pt>
                <c:pt idx="3">
                  <c:v>VAT checker — real logic</c:v>
                </c:pt>
                <c:pt idx="4">
                  <c:v>Client assistant — build new</c:v>
                </c:pt>
                <c:pt idx="5">
                  <c:v>Category picker — real logic</c:v>
                </c:pt>
                <c:pt idx="6">
                  <c:v>Message router — build new</c:v>
                </c:pt>
                <c:pt idx="7">
                  <c:v>Fatture in Cloud — go live</c:v>
                </c:pt>
                <c:pt idx="8">
                  <c:v>WhatsApp — go live</c:v>
                </c:pt>
                <c:pt idx="9">
                  <c:v>Rule saver — build new</c:v>
                </c:pt>
                <c:pt idx="10">
                  <c:v>TeamSystem write-back</c:v>
                </c:pt>
                <c:pt idx="11">
                  <c:v>Save memory permanently</c:v>
                </c:pt>
                <c:pt idx="12">
                  <c:v>Frontend polish + job editor</c:v>
                </c:pt>
                <c:pt idx="13">
                  <c:v>Testing + rehearsal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45-40BB-AF1F-FA5A4A0566A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kickoff</c:v>
                </c:pt>
              </c:strCache>
            </c:strRef>
          </c:tx>
          <c:spPr>
            <a:solidFill>
              <a:srgbClr val="D9822B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Agree the shared AI-model connector</c:v>
                </c:pt>
                <c:pt idx="1">
                  <c:v>Agent engine</c:v>
                </c:pt>
                <c:pt idx="2">
                  <c:v>Message bus + rule enforcement</c:v>
                </c:pt>
                <c:pt idx="3">
                  <c:v>VAT checker — real logic</c:v>
                </c:pt>
                <c:pt idx="4">
                  <c:v>Client assistant — build new</c:v>
                </c:pt>
                <c:pt idx="5">
                  <c:v>Category picker — real logic</c:v>
                </c:pt>
                <c:pt idx="6">
                  <c:v>Message router — build new</c:v>
                </c:pt>
                <c:pt idx="7">
                  <c:v>Fatture in Cloud — go live</c:v>
                </c:pt>
                <c:pt idx="8">
                  <c:v>WhatsApp — go live</c:v>
                </c:pt>
                <c:pt idx="9">
                  <c:v>Rule saver — build new</c:v>
                </c:pt>
                <c:pt idx="10">
                  <c:v>TeamSystem write-back</c:v>
                </c:pt>
                <c:pt idx="11">
                  <c:v>Save memory permanently</c:v>
                </c:pt>
                <c:pt idx="12">
                  <c:v>Frontend polish + job editor</c:v>
                </c:pt>
                <c:pt idx="13">
                  <c:v>Testing + rehearsal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45-40BB-AF1F-FA5A4A0566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A2E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b"/>
        <c:majorGridlines>
          <c:spPr>
            <a:ln w="9525" cap="flat">
              <a:solidFill>
                <a:srgbClr val="E5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000000"/>
                    </a:solidFill>
                    <a:latin typeface="Arial"/>
                  </a:rPr>
                  <a:t>Working 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1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943600" cy="5943600"/>
          </a:xfrm>
          <a:prstGeom prst="ellipse">
            <a:avLst/>
          </a:prstGeom>
          <a:solidFill>
            <a:srgbClr val="263477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206240" cy="4206240"/>
          </a:xfrm>
          <a:prstGeom prst="ellipse">
            <a:avLst/>
          </a:prstGeom>
          <a:solidFill>
            <a:srgbClr val="26347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 ×  TEAMSYSTEM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TeamSystems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465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0370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one job — check, categorize, contact the client, route, remember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3300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2644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14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72160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plain-language job description into a working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3600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48188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78231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AI on-site, backup in the cloud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23951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private, cheap — bigger model steps in when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16002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56248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624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74650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connections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20370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Fatture in Cloud + WhatsApp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118104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6248" y="33009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56248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32644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live screens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3721608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whole process happen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463600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556248" y="48188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5624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78231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5239512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always signs before anything is sent to the tax office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 vs. what's still needed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2E7D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working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rulebook — what an agent must contain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5-screen website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story, start to finish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Fatture in Cloud + WhatsApp code — just needs real keys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“never auto-file” rule — really enforced, not just promised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D982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NEEDED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runs an agent — missing entirely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</a:t>
            </a: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code yet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thinking — still hardcoded rules today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memory — resets every restart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message signing — currently just a placeholder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— 1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&amp; agents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&amp; rules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and Guardrails (</a:t>
            </a:r>
            <a:r>
              <a:rPr lang="en-US" sz="1300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.)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 a compiled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(Matteo)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bus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bus.mjs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)—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talking to each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(Matteo)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AI-model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(</a:t>
            </a:r>
            <a:r>
              <a:rPr lang="en-US" sz="1300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modelgateway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(Meet)</a:t>
            </a:r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checker rules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(Naima)</a:t>
            </a:r>
            <a:endParaRPr lang="en-US" sz="1300" b="1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 err="1"/>
              <a:t>L'Addetto</a:t>
            </a:r>
            <a:r>
              <a:rPr lang="en-US" sz="1400" dirty="0"/>
              <a:t> IVA </a:t>
            </a:r>
            <a:r>
              <a:rPr lang="en-US" sz="1400" dirty="0" smtClean="0"/>
              <a:t>(Validator)- 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Naima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/>
              <a:t>Il </a:t>
            </a:r>
            <a:r>
              <a:rPr lang="en-US" sz="1400" dirty="0" err="1"/>
              <a:t>Classificatore</a:t>
            </a:r>
            <a:r>
              <a:rPr lang="en-US" sz="1400" dirty="0"/>
              <a:t> (Classifier</a:t>
            </a:r>
            <a:r>
              <a:rPr lang="en-US" sz="1400" dirty="0" smtClean="0"/>
              <a:t>)-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(Meet)</a:t>
            </a: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 err="1"/>
              <a:t>L'Amministrativo</a:t>
            </a:r>
            <a:r>
              <a:rPr lang="en-US" sz="1400" dirty="0"/>
              <a:t>  (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assistant)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Chrislin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b="1" dirty="0">
              <a:solidFill>
                <a:srgbClr val="2A2E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/>
              <a:t>Lo </a:t>
            </a:r>
            <a:r>
              <a:rPr lang="en-US" sz="1400" dirty="0" err="1"/>
              <a:t>Smistatore</a:t>
            </a:r>
            <a:r>
              <a:rPr lang="en-US" sz="1400" dirty="0"/>
              <a:t> (Dispatcher</a:t>
            </a:r>
            <a:r>
              <a:rPr lang="en-US" sz="1400" dirty="0" smtClean="0"/>
              <a:t>)-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Harith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/>
              <a:t>L'Archivista (</a:t>
            </a:r>
            <a:r>
              <a:rPr lang="en-US" sz="1400" dirty="0" smtClean="0"/>
              <a:t>Archivist)-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saver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(Naima)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–"/>
            </a:pPr>
            <a:r>
              <a:rPr lang="en-US" sz="1400" dirty="0"/>
              <a:t>Chief of </a:t>
            </a:r>
            <a:r>
              <a:rPr lang="en-US" sz="1400" dirty="0" smtClean="0"/>
              <a:t>Staff (compiler)-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(Meet)</a:t>
            </a:r>
            <a:endParaRPr lang="en-US" sz="1300" b="1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— 2 OF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Connections, memory &amp; testing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Fatture in Cloud —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(Naima)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—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Harith</a:t>
            </a:r>
            <a:r>
              <a:rPr lang="en-US" sz="1300" b="1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TeamSystem write-back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(Mock)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(Naima)</a:t>
            </a:r>
            <a:endParaRPr lang="en-US" sz="1300" b="1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OF IT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screens &amp; testing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memory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- </a:t>
            </a:r>
            <a:r>
              <a:rPr lang="en-US" sz="1400" dirty="0" err="1" smtClean="0"/>
              <a:t>evidenceStore.mjs</a:t>
            </a:r>
            <a:r>
              <a:rPr lang="en-US" sz="1400" dirty="0" smtClean="0"/>
              <a:t> and </a:t>
            </a:r>
            <a:r>
              <a:rPr lang="en-US" sz="1400" dirty="0" err="1" smtClean="0"/>
              <a:t>knowledgeStore.mjs</a:t>
            </a:r>
            <a:r>
              <a:rPr lang="en-US" sz="1400" dirty="0" smtClean="0"/>
              <a:t> </a:t>
            </a:r>
            <a:r>
              <a:rPr lang="en-US" sz="1400" b="1" dirty="0" smtClean="0"/>
              <a:t>(Naima)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“write job in Italian”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Chrislin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the 5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b="1" dirty="0" err="1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Chrislin</a:t>
            </a:r>
            <a:r>
              <a:rPr lang="en-US" sz="1300" b="1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b="1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demo working after every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</a:t>
            </a:r>
            <a:r>
              <a:rPr lang="en-US" sz="1300" b="1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(Shared)</a:t>
            </a:r>
            <a:endParaRPr lang="en-US" sz="1300" b="1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372792" y="1310053"/>
            <a:ext cx="11540783" cy="5284177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138870"/>
              </p:ext>
            </p:extLst>
          </p:nvPr>
        </p:nvGraphicFramePr>
        <p:xfrm>
          <a:off x="885384" y="2005622"/>
          <a:ext cx="10515600" cy="3851075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6428521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36558459"/>
                    </a:ext>
                  </a:extLst>
                </a:gridCol>
              </a:tblGrid>
              <a:tr h="52832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Work Taken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207153"/>
                  </a:ext>
                </a:extLst>
              </a:tr>
              <a:tr h="777418">
                <a:tc>
                  <a:txBody>
                    <a:bodyPr/>
                    <a:lstStyle/>
                    <a:p>
                      <a:r>
                        <a:rPr lang="en-US" sz="1400" b="1" dirty="0"/>
                        <a:t>Matteo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Agent </a:t>
                      </a:r>
                      <a:r>
                        <a:rPr lang="en-US" sz="1400" dirty="0" smtClean="0"/>
                        <a:t>engine, </a:t>
                      </a:r>
                      <a:r>
                        <a:rPr lang="en-US" sz="1400" dirty="0"/>
                        <a:t>Guardrails (</a:t>
                      </a:r>
                      <a:r>
                        <a:rPr lang="en-US" sz="1400" dirty="0" err="1"/>
                        <a:t>Openclaw</a:t>
                      </a:r>
                      <a:r>
                        <a:rPr lang="en-US" sz="1400" dirty="0" smtClean="0"/>
                        <a:t>)</a:t>
                      </a:r>
                      <a:r>
                        <a:rPr lang="en-US" sz="1400" baseline="0" dirty="0" smtClean="0"/>
                        <a:t> and</a:t>
                      </a:r>
                      <a:r>
                        <a:rPr lang="en-US" sz="1400" dirty="0" smtClean="0"/>
                        <a:t> </a:t>
                      </a:r>
                      <a:r>
                        <a:rPr lang="en-US" sz="1400" dirty="0"/>
                        <a:t>Message bus (</a:t>
                      </a:r>
                      <a:r>
                        <a:rPr lang="en-US" sz="1400" dirty="0" err="1"/>
                        <a:t>bus.mjs</a:t>
                      </a:r>
                      <a:r>
                        <a:rPr lang="en-US" sz="1400" dirty="0"/>
                        <a:t>) – </a:t>
                      </a:r>
                      <a:r>
                        <a:rPr lang="en-US" sz="1400" dirty="0" smtClean="0"/>
                        <a:t>a2a schema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6173394"/>
                  </a:ext>
                </a:extLst>
              </a:tr>
              <a:tr h="856189">
                <a:tc>
                  <a:txBody>
                    <a:bodyPr/>
                    <a:lstStyle/>
                    <a:p>
                      <a:r>
                        <a:rPr lang="en-US" sz="1400" b="1" dirty="0"/>
                        <a:t>Meet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Shared AI-model connector (</a:t>
                      </a:r>
                      <a:r>
                        <a:rPr lang="en-US" sz="1400" dirty="0" err="1" smtClean="0"/>
                        <a:t>modelgateway</a:t>
                      </a:r>
                      <a:r>
                        <a:rPr lang="en-US" sz="1400" dirty="0" smtClean="0"/>
                        <a:t>),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err="1" smtClean="0"/>
                        <a:t>Classificatore</a:t>
                      </a:r>
                      <a:r>
                        <a:rPr lang="en-US" sz="1400" dirty="0" smtClean="0"/>
                        <a:t> agent,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Chief </a:t>
                      </a:r>
                      <a:r>
                        <a:rPr lang="en-US" sz="1400" dirty="0"/>
                        <a:t>of Staff (compiler) – Job description reader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058954"/>
                  </a:ext>
                </a:extLst>
              </a:tr>
              <a:tr h="632493">
                <a:tc>
                  <a:txBody>
                    <a:bodyPr/>
                    <a:lstStyle/>
                    <a:p>
                      <a:r>
                        <a:rPr lang="en-US" sz="1400" b="1" dirty="0"/>
                        <a:t>Naima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Validator agent,</a:t>
                      </a:r>
                      <a:r>
                        <a:rPr lang="en-US" sz="1400" baseline="0" dirty="0" smtClean="0"/>
                        <a:t> </a:t>
                      </a:r>
                      <a:r>
                        <a:rPr lang="en-US" sz="1400" dirty="0" smtClean="0"/>
                        <a:t>VAT </a:t>
                      </a:r>
                      <a:r>
                        <a:rPr lang="en-US" sz="1400" dirty="0"/>
                        <a:t>checker </a:t>
                      </a:r>
                      <a:r>
                        <a:rPr lang="en-US" sz="1400" dirty="0" smtClean="0"/>
                        <a:t>rules, Archivist, </a:t>
                      </a:r>
                      <a:r>
                        <a:rPr lang="en-US" sz="1400" dirty="0" err="1" smtClean="0"/>
                        <a:t>Fattura</a:t>
                      </a:r>
                      <a:r>
                        <a:rPr lang="en-US" sz="1400" dirty="0" smtClean="0"/>
                        <a:t> in Cloud connection, </a:t>
                      </a:r>
                      <a:r>
                        <a:rPr lang="en-US" sz="1400" dirty="0" err="1" smtClean="0"/>
                        <a:t>TeamSystem</a:t>
                      </a:r>
                      <a:r>
                        <a:rPr lang="en-US" sz="1400" dirty="0" smtClean="0"/>
                        <a:t> Mock environment, Memory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82849"/>
                  </a:ext>
                </a:extLst>
              </a:tr>
              <a:tr h="528325">
                <a:tc>
                  <a:txBody>
                    <a:bodyPr/>
                    <a:lstStyle/>
                    <a:p>
                      <a:r>
                        <a:rPr lang="en-US" sz="1400" b="1" dirty="0" err="1"/>
                        <a:t>Harith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Lo Smistatore (Dispatcher</a:t>
                      </a:r>
                      <a:r>
                        <a:rPr lang="it-IT" sz="1400" dirty="0" smtClean="0"/>
                        <a:t>),</a:t>
                      </a:r>
                      <a:r>
                        <a:rPr lang="it-IT" sz="1400" baseline="0" dirty="0" smtClean="0"/>
                        <a:t> Whtasapp Connection</a:t>
                      </a:r>
                      <a:endParaRPr lang="it-IT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1432633"/>
                  </a:ext>
                </a:extLst>
              </a:tr>
              <a:tr h="528325">
                <a:tc>
                  <a:txBody>
                    <a:bodyPr/>
                    <a:lstStyle/>
                    <a:p>
                      <a:r>
                        <a:rPr lang="en-US" sz="1400" b="1" dirty="0" err="1" smtClean="0"/>
                        <a:t>Chrislin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L'Amministrativo</a:t>
                      </a:r>
                      <a:r>
                        <a:rPr lang="en-US" sz="1400" dirty="0"/>
                        <a:t> (Client assistant</a:t>
                      </a:r>
                      <a:r>
                        <a:rPr lang="en-US" sz="1400" dirty="0" smtClean="0"/>
                        <a:t>), frontend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801335"/>
                  </a:ext>
                </a:extLst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548640" y="614483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 smtClean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OF</a:t>
            </a:r>
            <a:r>
              <a:rPr lang="en-US" sz="1400" b="1" kern="0" spc="200" dirty="0" smtClean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27900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 order, if we start now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11247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6053328"/>
            <a:ext cx="237744" cy="18288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32688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together, first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297680" y="6053328"/>
            <a:ext cx="237744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90288" y="59984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pick and build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35508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weeks total if a few of these run at the same time. Rough order, not a promise.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the fix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46504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AI models running live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37960" y="1783080"/>
            <a:ext cx="0" cy="512064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1746504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few for real, explain the 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32888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258775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can break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2624328"/>
            <a:ext cx="0" cy="512064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258775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backup plan + a recording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6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493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42900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“chat” unpredictably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465576"/>
            <a:ext cx="0" cy="512064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3429000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messages to fixed types only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15384"/>
            <a:ext cx="11064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3342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4270248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demo </a:t>
            </a:r>
            <a:r>
              <a:rPr lang="en-US" sz="1250" b="1" dirty="0" smtClean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37960" y="4306824"/>
            <a:ext cx="0" cy="512064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270248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 the models beforehand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0" y="5148072"/>
            <a:ext cx="0" cy="512064"/>
          </a:xfrm>
          <a:prstGeom prst="line">
            <a:avLst/>
          </a:prstGeom>
          <a:noFill/>
          <a:ln w="12700">
            <a:solidFill>
              <a:srgbClr val="D7DEE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POINTS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decide together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D982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our real demo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date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version, or a lighter one first?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this run — cloud or on-site?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model do we start with?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6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01368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D982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01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MOVING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67128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data needed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587752"/>
            <a:ext cx="4983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Fatture in Cloud test account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</a:t>
            </a: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template </a:t>
            </a:r>
            <a:r>
              <a:rPr lang="en-US" sz="1300" dirty="0" smtClean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studio's real chart of accounts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1600"/>
              </a:spcAft>
              <a:buSzPct val="100000"/>
              <a:buChar char="–"/>
            </a:pPr>
            <a:r>
              <a:rPr lang="en-US" sz="1300" dirty="0">
                <a:solidFill>
                  <a:srgbClr val="2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(anonymized) example from a client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Desk — Build Plan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656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691</Words>
  <Application>Microsoft Office PowerPoint</Application>
  <PresentationFormat>Widescreen</PresentationFormat>
  <Paragraphs>136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Testing</cp:lastModifiedBy>
  <cp:revision>12</cp:revision>
  <dcterms:created xsi:type="dcterms:W3CDTF">2026-09-09T15:52:40Z</dcterms:created>
  <dcterms:modified xsi:type="dcterms:W3CDTF">2026-09-11T16:35:13Z</dcterms:modified>
</cp:coreProperties>
</file>